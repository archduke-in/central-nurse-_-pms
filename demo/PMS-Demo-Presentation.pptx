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78992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800" b="1">
                <a:solidFill>
                  <a:srgbClr val="2DCAF2"/>
                </a:solidFill>
                <a:latin typeface="Aptos"/>
              </a:rPr>
              <a:t>CENTRAL NURSE PMS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45920"/>
            <a:ext cx="105156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700" b="1">
                <a:solidFill>
                  <a:srgbClr val="EEF5FA"/>
                </a:solidFill>
                <a:latin typeface="Aptos"/>
              </a:rPr>
              <a:t>Five-bed centralized Patient Monitoring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A0B1BE"/>
                </a:solidFill>
                <a:latin typeface="Aptos"/>
              </a:rPr>
              <a:t>Live demonstration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029200" cy="114300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74720"/>
            <a:ext cx="10972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Demo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67328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0">
                <a:solidFill>
                  <a:srgbClr val="EEF5FA"/>
                </a:solidFill>
                <a:latin typeface="Aptos"/>
              </a:rPr>
              <a:t>Show the running nurse-station UI, deterministic alarms, clinical views, audit trail and verification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BE46"/>
                </a:solidFill>
                <a:latin typeface="Aptos"/>
              </a:rPr>
              <a:t>Educational prototype ? not for clinical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Recommended order: establish the live system, trigger one alarm, then prove the supporting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720"/>
              </a:spcAft>
              <a:defRPr sz="2200">
                <a:solidFill>
                  <a:srgbClr val="EEF5FA"/>
                </a:solidFill>
                <a:latin typeface="Aptos"/>
              </a:defRPr>
            </a:pPr>
            <a:r>
              <a:t>? 1. Live nurse station: five beds, waveforms and alarm rail</a:t>
            </a:r>
          </a:p>
          <a:p>
            <a:pPr>
              <a:spcAft>
                <a:spcPts val="720"/>
              </a:spcAft>
              <a:defRPr sz="2200">
                <a:solidFill>
                  <a:srgbClr val="EEF5FA"/>
                </a:solidFill>
                <a:latin typeface="Aptos"/>
              </a:defRPr>
            </a:pPr>
            <a:r>
              <a:t>? 2. Trigger SpO? ? 82%: show priority, visual state and alarm entry</a:t>
            </a:r>
          </a:p>
          <a:p>
            <a:pPr>
              <a:spcAft>
                <a:spcPts val="720"/>
              </a:spcAft>
              <a:defRPr sz="2200">
                <a:solidFill>
                  <a:srgbClr val="EEF5FA"/>
                </a:solidFill>
                <a:latin typeface="Aptos"/>
              </a:defRPr>
            </a:pPr>
            <a:r>
              <a:t>? 3. Trends and Ward: clinical context and physical layout</a:t>
            </a:r>
          </a:p>
          <a:p>
            <a:pPr>
              <a:spcAft>
                <a:spcPts val="720"/>
              </a:spcAft>
              <a:defRPr sz="2200">
                <a:solidFill>
                  <a:srgbClr val="EEF5FA"/>
                </a:solidFill>
                <a:latin typeface="Aptos"/>
              </a:defRPr>
            </a:pPr>
            <a:r>
              <a:t>? 4. Audit: event accountability and acknowledgement</a:t>
            </a:r>
          </a:p>
          <a:p>
            <a:pPr>
              <a:spcAft>
                <a:spcPts val="720"/>
              </a:spcAft>
              <a:defRPr sz="2200">
                <a:solidFill>
                  <a:srgbClr val="EEF5FA"/>
                </a:solidFill>
                <a:latin typeface="Aptos"/>
              </a:defRPr>
            </a:pPr>
            <a:r>
              <a:t>? 5. Standards and Scope: design decisions and evidence coverage</a:t>
            </a:r>
          </a:p>
          <a:p>
            <a:pPr>
              <a:spcAft>
                <a:spcPts val="720"/>
              </a:spcAft>
              <a:defRPr sz="2200">
                <a:solidFill>
                  <a:srgbClr val="EEF5FA"/>
                </a:solidFill>
                <a:latin typeface="Aptos"/>
              </a:defRPr>
            </a:pPr>
            <a:r>
              <a:t>? 6. Finish with npm run verify and npm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5029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35E078"/>
                </a:solidFill>
                <a:latin typeface="Aptos"/>
              </a:rPr>
              <a:t>Estimated time: 8?12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Live nurse 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Start here. Point out the five-bed display, ECG / pleth / respiration sweeps, patient states, alarm limits and the persistent alarm count.</a:t>
            </a:r>
          </a:p>
        </p:txBody>
      </p:sp>
      <p:pic>
        <p:nvPicPr>
          <p:cNvPr id="5" name="Picture 4" descr="01-live-nurse-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7635240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971800" cy="315468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377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3317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EF5FA"/>
                </a:solidFill>
                <a:latin typeface="Aptos"/>
              </a:rPr>
              <a:t>Key message: one nurse station sees the whole ward without hiding alarms.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4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A0B1BE"/>
                </a:solidFill>
                <a:latin typeface="Aptos"/>
              </a:rPr>
              <a:t>Use the live app to reproduce this state during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Deterministic alarm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Click ?SpO? ? 82%?. Explain that the scenario operates on BED-01 and makes the demonstration repeatable. Show the red tile state, HIGH priority and alarm rail.</a:t>
            </a:r>
          </a:p>
        </p:txBody>
      </p:sp>
      <p:pic>
        <p:nvPicPr>
          <p:cNvPr id="5" name="Picture 4" descr="02-desaturation-al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7635240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971800" cy="315468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377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3317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EF5FA"/>
                </a:solidFill>
                <a:latin typeface="Aptos"/>
              </a:rPr>
              <a:t>Key message: alarms are actionable, visible and reproducible.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4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A0B1BE"/>
                </a:solidFill>
                <a:latin typeface="Aptos"/>
              </a:rPr>
              <a:t>Use the live app to reproduce this state during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Trends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Use the Trends tab to explain reference limits, longitudinal values and derived MAP. The alarm limits remain part of the clinical context.</a:t>
            </a:r>
          </a:p>
        </p:txBody>
      </p:sp>
      <p:pic>
        <p:nvPicPr>
          <p:cNvPr id="5" name="Picture 4" descr="03-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7635240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971800" cy="315468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377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3317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EF5FA"/>
                </a:solidFill>
                <a:latin typeface="Aptos"/>
              </a:rPr>
              <a:t>Key message: a number is interpreted against limits and time, not shown in isolation.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4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A0B1BE"/>
                </a:solidFill>
                <a:latin typeface="Aptos"/>
              </a:rPr>
              <a:t>Use the live app to reproduce this state during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Ward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Use the Ward tab to show the bedhead zone, nurse-station sightline and separated electrosurgical source. Separation is the primary EMC control.</a:t>
            </a:r>
          </a:p>
        </p:txBody>
      </p:sp>
      <p:pic>
        <p:nvPicPr>
          <p:cNvPr id="5" name="Picture 4" descr="04-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7635240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971800" cy="315468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377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3317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EF5FA"/>
                </a:solidFill>
                <a:latin typeface="Aptos"/>
              </a:rPr>
              <a:t>Key message: the physical design supports monitoring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4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A0B1BE"/>
                </a:solidFill>
                <a:latin typeface="Aptos"/>
              </a:rPr>
              <a:t>Use the live app to reproduce this state during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Audit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Use the Audit tab to show the event trail, alarm history, acknowledgement state and latency budget. Be clear that the browser demo is in-memory; production persistence is specified in the report.</a:t>
            </a:r>
          </a:p>
        </p:txBody>
      </p:sp>
      <p:pic>
        <p:nvPicPr>
          <p:cNvPr id="5" name="Picture 4" descr="05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7635240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971800" cy="315468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377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3317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EF5FA"/>
                </a:solidFill>
                <a:latin typeface="Aptos"/>
              </a:rPr>
              <a:t>Key message: alarm safety includes accountability, not only annunciation.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4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A0B1BE"/>
                </a:solidFill>
                <a:latin typeface="Aptos"/>
              </a:rPr>
              <a:t>Use the live app to reproduce this state during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Standards and scope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Standards records deliberate corrections and limitations. Scope Coverage is generated from the repository evidence and helps prevent unsupported claims.</a:t>
            </a:r>
          </a:p>
        </p:txBody>
      </p:sp>
      <p:pic>
        <p:nvPicPr>
          <p:cNvPr id="5" name="Picture 4" descr="06-stand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7635240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971800" cy="315468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377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3317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EF5FA"/>
                </a:solidFill>
                <a:latin typeface="Aptos"/>
              </a:rPr>
              <a:t>Key message: standards are checked and limitations are stated honestly.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4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A0B1BE"/>
                </a:solidFill>
                <a:latin typeface="Aptos"/>
              </a:rPr>
              <a:t>Use the live app to reproduce this state during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Scope Coverage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Finish the UI tour with the generated goal and milestone coverage view. Then run npm run scope and npm run verify in the terminal.</a:t>
            </a:r>
          </a:p>
        </p:txBody>
      </p:sp>
      <p:pic>
        <p:nvPicPr>
          <p:cNvPr id="5" name="Picture 4" descr="07-scope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7635240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971800" cy="3154680"/>
          </a:xfrm>
          <a:prstGeom prst="roundRect">
            <a:avLst/>
          </a:prstGeom>
          <a:solidFill>
            <a:srgbClr val="141F2B"/>
          </a:solidFill>
          <a:ln>
            <a:solidFill>
              <a:srgbClr val="2DC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377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DCAF2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3317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EEF5FA"/>
                </a:solidFill>
                <a:latin typeface="Aptos"/>
              </a:rPr>
              <a:t>Key message: the project is executable and auditable, not just a static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40"/>
            <a:ext cx="2331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A0B1BE"/>
                </a:solidFill>
                <a:latin typeface="Aptos"/>
              </a:rPr>
              <a:t>Use the live app to reproduce this state during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EEF5FA"/>
                </a:solidFill>
                <a:latin typeface="Aptos"/>
              </a:rPr>
              <a:t>Close with executable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0B1BE"/>
                </a:solidFill>
                <a:latin typeface="Aptos"/>
              </a:rPr>
              <a:t>The presentation shows the behavior; the repository commands verify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926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35E078"/>
                </a:solidFill>
                <a:latin typeface="Aptos"/>
              </a:rPr>
              <a:t>npm run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389888"/>
            <a:ext cx="71323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EEF5FA"/>
                </a:solidFill>
                <a:latin typeface="Aptos"/>
              </a:rPr>
              <a:t>Full quality gate: lint, scope, report, tests, build and smoke.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926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2DCAF2"/>
                </a:solidFill>
                <a:latin typeface="Aptos"/>
              </a:rPr>
              <a:t>npm run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395728"/>
            <a:ext cx="71323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EEF5FA"/>
                </a:solidFill>
                <a:latin typeface="Aptos"/>
              </a:rPr>
              <a:t>Executes schema, FHIR, standards, cross-reference and behavioral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926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BE46"/>
                </a:solidFill>
                <a:latin typeface="Aptos"/>
              </a:rPr>
              <a:t>npm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401568"/>
            <a:ext cx="71323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EEF5FA"/>
                </a:solidFill>
                <a:latin typeface="Aptos"/>
              </a:rPr>
              <a:t>Injects deliberate faults and confirms the gate catches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926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EEF5FA"/>
                </a:solidFill>
                <a:latin typeface="Aptos"/>
              </a:rPr>
              <a:t>npm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407408"/>
            <a:ext cx="71323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EEF5FA"/>
                </a:solidFill>
                <a:latin typeface="Aptos"/>
              </a:rPr>
              <a:t>Builds and serves the demo at http://127.0.0.1:8420.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FF525C"/>
                </a:solidFill>
                <a:latin typeface="Aptos"/>
              </a:rPr>
              <a:t>Keep the safety statement explicit: this is an educational prototype, not a certified medical device.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A0B1BE"/>
                </a:solidFill>
                <a:latin typeface="Aptos"/>
              </a:rPr>
              <a:t>Central Nurse PMS  |  Demo walkthrough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